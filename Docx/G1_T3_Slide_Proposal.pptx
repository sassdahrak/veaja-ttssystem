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Bryndan Write" panose="020B0604020202020204" charset="0"/>
      <p:regular r:id="rId16"/>
    </p:embeddedFont>
    <p:embeddedFont>
      <p:font typeface="Canva Sans" panose="020B0604020202020204" charset="0"/>
      <p:regular r:id="rId17"/>
    </p:embeddedFont>
    <p:embeddedFont>
      <p:font typeface="Open Sauce" panose="020B0604020202020204" charset="0"/>
      <p:regular r:id="rId18"/>
    </p:embeddedFont>
    <p:embeddedFont>
      <p:font typeface="Public Sans" panose="020B0604020202020204" charset="0"/>
      <p:regular r:id="rId19"/>
    </p:embeddedFont>
    <p:embeddedFont>
      <p:font typeface="Public Sans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figma.com/design/y1j7LMuMZceJo5Ib39ex9F/Voice-Assistance--TTSs-?node-id=0-1&amp;m=dev&amp;t=OeQ0trjEQnLT9ooX-1" TargetMode="Externa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34061" y="726843"/>
            <a:ext cx="5703319" cy="9560157"/>
            <a:chOff x="0" y="0"/>
            <a:chExt cx="1502109" cy="25179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2109" cy="2517901"/>
            </a:xfrm>
            <a:custGeom>
              <a:avLst/>
              <a:gdLst/>
              <a:ahLst/>
              <a:cxnLst/>
              <a:rect l="l" t="t" r="r" b="b"/>
              <a:pathLst>
                <a:path w="1502109" h="2517901">
                  <a:moveTo>
                    <a:pt x="69229" y="0"/>
                  </a:moveTo>
                  <a:lnTo>
                    <a:pt x="1432879" y="0"/>
                  </a:lnTo>
                  <a:cubicBezTo>
                    <a:pt x="1451240" y="0"/>
                    <a:pt x="1468849" y="7294"/>
                    <a:pt x="1481832" y="20277"/>
                  </a:cubicBezTo>
                  <a:cubicBezTo>
                    <a:pt x="1494815" y="33260"/>
                    <a:pt x="1502109" y="50869"/>
                    <a:pt x="1502109" y="69229"/>
                  </a:cubicBezTo>
                  <a:lnTo>
                    <a:pt x="1502109" y="2448672"/>
                  </a:lnTo>
                  <a:cubicBezTo>
                    <a:pt x="1502109" y="2467033"/>
                    <a:pt x="1494815" y="2484642"/>
                    <a:pt x="1481832" y="2497624"/>
                  </a:cubicBezTo>
                  <a:cubicBezTo>
                    <a:pt x="1468849" y="2510608"/>
                    <a:pt x="1451240" y="2517901"/>
                    <a:pt x="1432879" y="2517901"/>
                  </a:cubicBezTo>
                  <a:lnTo>
                    <a:pt x="69229" y="2517901"/>
                  </a:lnTo>
                  <a:cubicBezTo>
                    <a:pt x="50869" y="2517901"/>
                    <a:pt x="33260" y="2510608"/>
                    <a:pt x="20277" y="2497624"/>
                  </a:cubicBezTo>
                  <a:cubicBezTo>
                    <a:pt x="7294" y="2484642"/>
                    <a:pt x="0" y="2467033"/>
                    <a:pt x="0" y="2448672"/>
                  </a:cubicBezTo>
                  <a:lnTo>
                    <a:pt x="0" y="69229"/>
                  </a:lnTo>
                  <a:cubicBezTo>
                    <a:pt x="0" y="50869"/>
                    <a:pt x="7294" y="33260"/>
                    <a:pt x="20277" y="20277"/>
                  </a:cubicBezTo>
                  <a:cubicBezTo>
                    <a:pt x="33260" y="7294"/>
                    <a:pt x="50869" y="0"/>
                    <a:pt x="6922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02109" cy="2556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596341" y="1595341"/>
            <a:ext cx="8691659" cy="8691659"/>
          </a:xfrm>
          <a:custGeom>
            <a:avLst/>
            <a:gdLst/>
            <a:ahLst/>
            <a:cxnLst/>
            <a:rect l="l" t="t" r="r" b="b"/>
            <a:pathLst>
              <a:path w="8691659" h="8691659">
                <a:moveTo>
                  <a:pt x="0" y="0"/>
                </a:moveTo>
                <a:lnTo>
                  <a:pt x="8691659" y="0"/>
                </a:lnTo>
                <a:lnTo>
                  <a:pt x="8691659" y="8691659"/>
                </a:lnTo>
                <a:lnTo>
                  <a:pt x="0" y="86916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062712" y="2230577"/>
            <a:ext cx="8162575" cy="5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90"/>
              </a:lnSpc>
              <a:spcBef>
                <a:spcPct val="0"/>
              </a:spcBef>
            </a:pPr>
            <a:r>
              <a:rPr lang="en-US" sz="15135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Voice Assistant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1978281"/>
            <a:ext cx="4551007" cy="8308719"/>
          </a:xfrm>
          <a:custGeom>
            <a:avLst/>
            <a:gdLst/>
            <a:ahLst/>
            <a:cxnLst/>
            <a:rect l="l" t="t" r="r" b="b"/>
            <a:pathLst>
              <a:path w="4551007" h="8308719">
                <a:moveTo>
                  <a:pt x="0" y="0"/>
                </a:moveTo>
                <a:lnTo>
                  <a:pt x="4551007" y="0"/>
                </a:lnTo>
                <a:lnTo>
                  <a:pt x="4551007" y="8308719"/>
                </a:lnTo>
                <a:lnTo>
                  <a:pt x="0" y="8308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7321577" y="866775"/>
            <a:ext cx="3644847" cy="955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5"/>
              </a:lnSpc>
              <a:spcBef>
                <a:spcPct val="0"/>
              </a:spcBef>
            </a:pPr>
            <a:r>
              <a:rPr lang="en-US" sz="5217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OOP course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63297" y="8302938"/>
            <a:ext cx="3644847" cy="955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5"/>
              </a:lnSpc>
              <a:spcBef>
                <a:spcPct val="0"/>
              </a:spcBef>
            </a:pPr>
            <a:r>
              <a:rPr lang="en-US" sz="5217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Team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12494" y="1904606"/>
            <a:ext cx="10134310" cy="8743039"/>
          </a:xfrm>
          <a:custGeom>
            <a:avLst/>
            <a:gdLst/>
            <a:ahLst/>
            <a:cxnLst/>
            <a:rect l="l" t="t" r="r" b="b"/>
            <a:pathLst>
              <a:path w="10134310" h="8743039">
                <a:moveTo>
                  <a:pt x="0" y="0"/>
                </a:moveTo>
                <a:lnTo>
                  <a:pt x="10134310" y="0"/>
                </a:lnTo>
                <a:lnTo>
                  <a:pt x="10134310" y="8743039"/>
                </a:lnTo>
                <a:lnTo>
                  <a:pt x="0" y="87430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43063" y="6190401"/>
            <a:ext cx="1708081" cy="891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3"/>
              </a:lnSpc>
              <a:spcBef>
                <a:spcPct val="0"/>
              </a:spcBef>
            </a:pPr>
            <a:r>
              <a:rPr lang="en-US" sz="2445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what do we have here?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4976" y="676275"/>
            <a:ext cx="15958048" cy="218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Table of content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86783" y="4095224"/>
            <a:ext cx="4574773" cy="1048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0"/>
              </a:lnSpc>
              <a:spcBef>
                <a:spcPct val="0"/>
              </a:spcBef>
            </a:pPr>
            <a:r>
              <a:rPr lang="en-US" sz="5821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Team member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23994" y="4095224"/>
            <a:ext cx="4574773" cy="1048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0"/>
              </a:lnSpc>
              <a:spcBef>
                <a:spcPct val="0"/>
              </a:spcBef>
            </a:pPr>
            <a:r>
              <a:rPr lang="en-US" sz="5821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86783" y="5408017"/>
            <a:ext cx="4574773" cy="1048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0"/>
              </a:lnSpc>
              <a:spcBef>
                <a:spcPct val="0"/>
              </a:spcBef>
            </a:pPr>
            <a:r>
              <a:rPr lang="en-US" sz="5821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Key feature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23994" y="5417067"/>
            <a:ext cx="4574773" cy="1048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0"/>
              </a:lnSpc>
              <a:spcBef>
                <a:spcPct val="0"/>
              </a:spcBef>
            </a:pPr>
            <a:r>
              <a:rPr lang="en-US" sz="5821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Feasibility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83613" y="6741568"/>
            <a:ext cx="4574773" cy="1048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0"/>
              </a:lnSpc>
              <a:spcBef>
                <a:spcPct val="0"/>
              </a:spcBef>
            </a:pPr>
            <a:r>
              <a:rPr lang="en-US" sz="5821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Timeline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25088" y="-2946671"/>
            <a:ext cx="11637824" cy="13233671"/>
          </a:xfrm>
          <a:custGeom>
            <a:avLst/>
            <a:gdLst/>
            <a:ahLst/>
            <a:cxnLst/>
            <a:rect l="l" t="t" r="r" b="b"/>
            <a:pathLst>
              <a:path w="11637824" h="13233671">
                <a:moveTo>
                  <a:pt x="0" y="0"/>
                </a:moveTo>
                <a:lnTo>
                  <a:pt x="11637824" y="0"/>
                </a:lnTo>
                <a:lnTo>
                  <a:pt x="11637824" y="13233671"/>
                </a:lnTo>
                <a:lnTo>
                  <a:pt x="0" y="13233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288" b="-162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981200" y="0"/>
            <a:ext cx="14584521" cy="4559701"/>
            <a:chOff x="0" y="0"/>
            <a:chExt cx="3841191" cy="103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41191" cy="1032476"/>
            </a:xfrm>
            <a:custGeom>
              <a:avLst/>
              <a:gdLst/>
              <a:ahLst/>
              <a:cxnLst/>
              <a:rect l="l" t="t" r="r" b="b"/>
              <a:pathLst>
                <a:path w="3841191" h="1032476">
                  <a:moveTo>
                    <a:pt x="27072" y="0"/>
                  </a:moveTo>
                  <a:lnTo>
                    <a:pt x="3814118" y="0"/>
                  </a:lnTo>
                  <a:cubicBezTo>
                    <a:pt x="3829070" y="0"/>
                    <a:pt x="3841191" y="12121"/>
                    <a:pt x="3841191" y="27072"/>
                  </a:cubicBezTo>
                  <a:lnTo>
                    <a:pt x="3841191" y="1005404"/>
                  </a:lnTo>
                  <a:cubicBezTo>
                    <a:pt x="3841191" y="1012584"/>
                    <a:pt x="3838339" y="1019470"/>
                    <a:pt x="3833261" y="1024547"/>
                  </a:cubicBezTo>
                  <a:cubicBezTo>
                    <a:pt x="3828185" y="1029624"/>
                    <a:pt x="3821299" y="1032476"/>
                    <a:pt x="3814118" y="1032476"/>
                  </a:cubicBezTo>
                  <a:lnTo>
                    <a:pt x="27072" y="1032476"/>
                  </a:lnTo>
                  <a:cubicBezTo>
                    <a:pt x="19892" y="1032476"/>
                    <a:pt x="13006" y="1029624"/>
                    <a:pt x="7929" y="1024547"/>
                  </a:cubicBezTo>
                  <a:cubicBezTo>
                    <a:pt x="2852" y="1019470"/>
                    <a:pt x="0" y="1012584"/>
                    <a:pt x="0" y="1005404"/>
                  </a:cubicBezTo>
                  <a:lnTo>
                    <a:pt x="0" y="27072"/>
                  </a:lnTo>
                  <a:cubicBezTo>
                    <a:pt x="0" y="19892"/>
                    <a:pt x="2852" y="13006"/>
                    <a:pt x="7929" y="7929"/>
                  </a:cubicBezTo>
                  <a:cubicBezTo>
                    <a:pt x="13006" y="2852"/>
                    <a:pt x="19892" y="0"/>
                    <a:pt x="2707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85725"/>
              <a:ext cx="3841191" cy="1118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3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64976" y="398248"/>
            <a:ext cx="15958048" cy="218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Team member!!!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9410" y="7132687"/>
            <a:ext cx="3905012" cy="746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  <a:spcBef>
                <a:spcPct val="0"/>
              </a:spcBef>
            </a:pPr>
            <a:r>
              <a:rPr lang="en-US" sz="4085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Keo Seavpav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55737" y="3485043"/>
            <a:ext cx="3905012" cy="746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  <a:spcBef>
                <a:spcPct val="0"/>
              </a:spcBef>
            </a:pPr>
            <a:r>
              <a:rPr lang="en-US" sz="4085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Hong Limhak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595019" y="5921240"/>
            <a:ext cx="2991493" cy="1472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4085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Vean</a:t>
            </a:r>
          </a:p>
          <a:p>
            <a:pPr algn="ctr">
              <a:lnSpc>
                <a:spcPts val="5719"/>
              </a:lnSpc>
              <a:spcBef>
                <a:spcPct val="0"/>
              </a:spcBef>
            </a:pPr>
            <a:r>
              <a:rPr lang="en-US" sz="4085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Sovanvirak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434872"/>
            <a:ext cx="3322002" cy="2823428"/>
          </a:xfrm>
          <a:custGeom>
            <a:avLst/>
            <a:gdLst/>
            <a:ahLst/>
            <a:cxnLst/>
            <a:rect l="l" t="t" r="r" b="b"/>
            <a:pathLst>
              <a:path w="3322002" h="2823428">
                <a:moveTo>
                  <a:pt x="0" y="0"/>
                </a:moveTo>
                <a:lnTo>
                  <a:pt x="3322002" y="0"/>
                </a:lnTo>
                <a:lnTo>
                  <a:pt x="3322002" y="2823428"/>
                </a:lnTo>
                <a:lnTo>
                  <a:pt x="0" y="28234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6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389948" y="3061244"/>
            <a:ext cx="2479873" cy="2082256"/>
          </a:xfrm>
          <a:custGeom>
            <a:avLst/>
            <a:gdLst/>
            <a:ahLst/>
            <a:cxnLst/>
            <a:rect l="l" t="t" r="r" b="b"/>
            <a:pathLst>
              <a:path w="2479873" h="2082256">
                <a:moveTo>
                  <a:pt x="0" y="0"/>
                </a:moveTo>
                <a:lnTo>
                  <a:pt x="2479873" y="0"/>
                </a:lnTo>
                <a:lnTo>
                  <a:pt x="2479873" y="2082256"/>
                </a:lnTo>
                <a:lnTo>
                  <a:pt x="0" y="2082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64976" y="676275"/>
            <a:ext cx="15958048" cy="218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Project 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0" y="3172088"/>
            <a:ext cx="4574773" cy="760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Product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89701" y="4026172"/>
            <a:ext cx="11029072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Voice Assistance is a Python text-to-speech (TTS) system that can transfer from text to voice which can overlay on Microsoft Word and other apps for ease of use.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69227" y="6449146"/>
            <a:ext cx="4574773" cy="760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Product important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69227" y="7333066"/>
            <a:ext cx="11060657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 lab study tool that can change student behavior from being lazy in reading to being ready to listen. Main focus is student and illiterate people in Cambodia.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293952"/>
            <a:ext cx="6513828" cy="5964348"/>
          </a:xfrm>
          <a:custGeom>
            <a:avLst/>
            <a:gdLst/>
            <a:ahLst/>
            <a:cxnLst/>
            <a:rect l="l" t="t" r="r" b="b"/>
            <a:pathLst>
              <a:path w="6513828" h="5964348">
                <a:moveTo>
                  <a:pt x="0" y="0"/>
                </a:moveTo>
                <a:lnTo>
                  <a:pt x="6513828" y="0"/>
                </a:lnTo>
                <a:lnTo>
                  <a:pt x="6513828" y="5964348"/>
                </a:lnTo>
                <a:lnTo>
                  <a:pt x="0" y="59643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164976" y="676275"/>
            <a:ext cx="15958048" cy="218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Key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0" y="3362588"/>
            <a:ext cx="7533779" cy="392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48" lvl="1" indent="-485774" algn="l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Text to Speech (core)</a:t>
            </a:r>
          </a:p>
          <a:p>
            <a:pPr marL="971548" lvl="1" indent="-485774" algn="l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Background clipboard listener</a:t>
            </a:r>
          </a:p>
          <a:p>
            <a:pPr marL="971548" lvl="1" indent="-485774" algn="l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History Handling</a:t>
            </a:r>
          </a:p>
          <a:p>
            <a:pPr marL="971548" lvl="1" indent="-485774" algn="l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322652"/>
            <a:ext cx="7013354" cy="5964348"/>
          </a:xfrm>
          <a:custGeom>
            <a:avLst/>
            <a:gdLst/>
            <a:ahLst/>
            <a:cxnLst/>
            <a:rect l="l" t="t" r="r" b="b"/>
            <a:pathLst>
              <a:path w="7013354" h="5964348">
                <a:moveTo>
                  <a:pt x="0" y="0"/>
                </a:moveTo>
                <a:lnTo>
                  <a:pt x="7013354" y="0"/>
                </a:lnTo>
                <a:lnTo>
                  <a:pt x="7013354" y="5964348"/>
                </a:lnTo>
                <a:lnTo>
                  <a:pt x="0" y="59643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164976" y="676275"/>
            <a:ext cx="15958048" cy="218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Text-to-speech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0" y="3191827"/>
            <a:ext cx="7057161" cy="623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51" lvl="1" indent="-474975" algn="l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Convert selected text to speech</a:t>
            </a:r>
          </a:p>
          <a:p>
            <a:pPr marL="949951" lvl="1" indent="-474975" algn="l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using pyttsx3 for offline conversion</a:t>
            </a:r>
          </a:p>
          <a:p>
            <a:pPr marL="949951" lvl="1" indent="-474975" algn="l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accept manual input</a:t>
            </a:r>
          </a:p>
          <a:p>
            <a:pPr marL="949951" lvl="1" indent="-474975" algn="l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file and error handling</a:t>
            </a:r>
          </a:p>
          <a:p>
            <a:pPr marL="949951" lvl="1" indent="-474975" algn="l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Queue based speaking</a:t>
            </a:r>
          </a:p>
          <a:p>
            <a:pPr marL="949951" lvl="1" indent="-474975" algn="l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related to OOP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256893"/>
            <a:ext cx="6651641" cy="6156306"/>
          </a:xfrm>
          <a:custGeom>
            <a:avLst/>
            <a:gdLst/>
            <a:ahLst/>
            <a:cxnLst/>
            <a:rect l="l" t="t" r="r" b="b"/>
            <a:pathLst>
              <a:path w="6651641" h="6156306">
                <a:moveTo>
                  <a:pt x="0" y="0"/>
                </a:moveTo>
                <a:lnTo>
                  <a:pt x="6651641" y="0"/>
                </a:lnTo>
                <a:lnTo>
                  <a:pt x="6651641" y="6156306"/>
                </a:lnTo>
                <a:lnTo>
                  <a:pt x="0" y="6156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4588854" y="6624661"/>
            <a:ext cx="3699146" cy="3662339"/>
          </a:xfrm>
          <a:custGeom>
            <a:avLst/>
            <a:gdLst/>
            <a:ahLst/>
            <a:cxnLst/>
            <a:rect l="l" t="t" r="r" b="b"/>
            <a:pathLst>
              <a:path w="3699146" h="3662339">
                <a:moveTo>
                  <a:pt x="3699146" y="0"/>
                </a:moveTo>
                <a:lnTo>
                  <a:pt x="0" y="0"/>
                </a:lnTo>
                <a:lnTo>
                  <a:pt x="0" y="3662339"/>
                </a:lnTo>
                <a:lnTo>
                  <a:pt x="3699146" y="3662339"/>
                </a:lnTo>
                <a:lnTo>
                  <a:pt x="3699146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64976" y="676275"/>
            <a:ext cx="15958048" cy="218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Background listener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0" y="3344227"/>
            <a:ext cx="7057161" cy="3888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51" lvl="1" indent="-474975" algn="l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Listen to user ctrl+c</a:t>
            </a:r>
          </a:p>
          <a:p>
            <a:pPr marL="949951" lvl="1" indent="-474975" algn="l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Push item into software</a:t>
            </a:r>
          </a:p>
          <a:p>
            <a:pPr marL="949951" lvl="1" indent="-474975" algn="l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appear above other software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74624" y="6714665"/>
            <a:ext cx="3548400" cy="3572335"/>
          </a:xfrm>
          <a:custGeom>
            <a:avLst/>
            <a:gdLst/>
            <a:ahLst/>
            <a:cxnLst/>
            <a:rect l="l" t="t" r="r" b="b"/>
            <a:pathLst>
              <a:path w="3548400" h="3572335">
                <a:moveTo>
                  <a:pt x="0" y="0"/>
                </a:moveTo>
                <a:lnTo>
                  <a:pt x="3548400" y="0"/>
                </a:lnTo>
                <a:lnTo>
                  <a:pt x="3548400" y="3572335"/>
                </a:lnTo>
                <a:lnTo>
                  <a:pt x="0" y="35723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2857500"/>
            <a:ext cx="6442718" cy="6899314"/>
          </a:xfrm>
          <a:custGeom>
            <a:avLst/>
            <a:gdLst/>
            <a:ahLst/>
            <a:cxnLst/>
            <a:rect l="l" t="t" r="r" b="b"/>
            <a:pathLst>
              <a:path w="6442718" h="6899314">
                <a:moveTo>
                  <a:pt x="0" y="0"/>
                </a:moveTo>
                <a:lnTo>
                  <a:pt x="6442718" y="0"/>
                </a:lnTo>
                <a:lnTo>
                  <a:pt x="6442718" y="6899314"/>
                </a:lnTo>
                <a:lnTo>
                  <a:pt x="0" y="68993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37" b="-31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64976" y="676275"/>
            <a:ext cx="15958048" cy="218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History Handling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0" y="3344227"/>
            <a:ext cx="7057161" cy="3107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51" lvl="1" indent="-474975" algn="l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Push read item to txt</a:t>
            </a:r>
          </a:p>
          <a:p>
            <a:pPr marL="949951" lvl="1" indent="-474975" algn="l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Have time stamp for each block</a:t>
            </a:r>
          </a:p>
          <a:p>
            <a:pPr marL="949951" lvl="1" indent="-474975" algn="l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Good for tracking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93332" y="3892832"/>
            <a:ext cx="2501336" cy="2501336"/>
          </a:xfrm>
          <a:custGeom>
            <a:avLst/>
            <a:gdLst/>
            <a:ahLst/>
            <a:cxnLst/>
            <a:rect l="l" t="t" r="r" b="b"/>
            <a:pathLst>
              <a:path w="2501336" h="2501336">
                <a:moveTo>
                  <a:pt x="0" y="0"/>
                </a:moveTo>
                <a:lnTo>
                  <a:pt x="2501336" y="0"/>
                </a:lnTo>
                <a:lnTo>
                  <a:pt x="2501336" y="2501336"/>
                </a:lnTo>
                <a:lnTo>
                  <a:pt x="0" y="2501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49651" y="3660688"/>
            <a:ext cx="6967233" cy="6967233"/>
          </a:xfrm>
          <a:custGeom>
            <a:avLst/>
            <a:gdLst/>
            <a:ahLst/>
            <a:cxnLst/>
            <a:rect l="l" t="t" r="r" b="b"/>
            <a:pathLst>
              <a:path w="6967233" h="6967233">
                <a:moveTo>
                  <a:pt x="0" y="0"/>
                </a:moveTo>
                <a:lnTo>
                  <a:pt x="6967233" y="0"/>
                </a:lnTo>
                <a:lnTo>
                  <a:pt x="6967233" y="6967233"/>
                </a:lnTo>
                <a:lnTo>
                  <a:pt x="0" y="6967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1651968" y="3660688"/>
            <a:ext cx="7236776" cy="6626312"/>
          </a:xfrm>
          <a:custGeom>
            <a:avLst/>
            <a:gdLst/>
            <a:ahLst/>
            <a:cxnLst/>
            <a:rect l="l" t="t" r="r" b="b"/>
            <a:pathLst>
              <a:path w="7236776" h="6626312">
                <a:moveTo>
                  <a:pt x="7236776" y="0"/>
                </a:moveTo>
                <a:lnTo>
                  <a:pt x="0" y="0"/>
                </a:lnTo>
                <a:lnTo>
                  <a:pt x="0" y="6626312"/>
                </a:lnTo>
                <a:lnTo>
                  <a:pt x="7236776" y="6626312"/>
                </a:lnTo>
                <a:lnTo>
                  <a:pt x="7236776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164976" y="676275"/>
            <a:ext cx="15958048" cy="218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GUI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10901" y="6327493"/>
            <a:ext cx="6466197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5" tooltip="https://www.figma.com/design/y1j7LMuMZceJo5Ib39ex9F/Voice-Assistance--TTSs-?node-id=0-1&amp;m=dev&amp;t=OeQ0trjEQnLT9ooX-1"/>
              </a:rPr>
              <a:t>Link for demostration.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509050"/>
            <a:ext cx="4027625" cy="3745315"/>
          </a:xfrm>
          <a:custGeom>
            <a:avLst/>
            <a:gdLst/>
            <a:ahLst/>
            <a:cxnLst/>
            <a:rect l="l" t="t" r="r" b="b"/>
            <a:pathLst>
              <a:path w="4027625" h="3745315">
                <a:moveTo>
                  <a:pt x="0" y="0"/>
                </a:moveTo>
                <a:lnTo>
                  <a:pt x="4027625" y="0"/>
                </a:lnTo>
                <a:lnTo>
                  <a:pt x="4027625" y="3745315"/>
                </a:lnTo>
                <a:lnTo>
                  <a:pt x="0" y="37453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84460"/>
            <a:ext cx="15958048" cy="218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Feasibility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2323" y="2279544"/>
            <a:ext cx="5344954" cy="1052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0"/>
              </a:lnSpc>
              <a:spcBef>
                <a:spcPct val="0"/>
              </a:spcBef>
            </a:pPr>
            <a:r>
              <a:rPr lang="en-US" sz="5821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Proven Libraries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659420"/>
            <a:ext cx="16230600" cy="1261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pyttsx3 </a:t>
            </a:r>
            <a:r>
              <a:rPr lang="en-US" sz="35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: offline TTS no internet require, Well document, easy to integrate with OOP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178165"/>
            <a:ext cx="16230600" cy="1261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keyboard +Pillow+OpenCV</a:t>
            </a:r>
            <a:r>
              <a:rPr lang="en-US" sz="36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:</a:t>
            </a:r>
            <a:r>
              <a:rPr lang="en-US" sz="36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6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All available via pip.USed in real_world apps - no risk of missing features.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77139" y="5713052"/>
            <a:ext cx="11271773" cy="1261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PyQt6 </a:t>
            </a:r>
            <a:r>
              <a:rPr lang="en-US" sz="35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: Mature framework for desktop GUI. Qthread prevent UI freeze during speech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735955"/>
            <a:ext cx="5635886" cy="5113411"/>
          </a:xfrm>
          <a:custGeom>
            <a:avLst/>
            <a:gdLst/>
            <a:ahLst/>
            <a:cxnLst/>
            <a:rect l="l" t="t" r="r" b="b"/>
            <a:pathLst>
              <a:path w="5635886" h="5113411">
                <a:moveTo>
                  <a:pt x="0" y="0"/>
                </a:moveTo>
                <a:lnTo>
                  <a:pt x="5635886" y="0"/>
                </a:lnTo>
                <a:lnTo>
                  <a:pt x="5635886" y="5113411"/>
                </a:lnTo>
                <a:lnTo>
                  <a:pt x="0" y="51134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857250"/>
            <a:ext cx="8452906" cy="1052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0"/>
              </a:lnSpc>
              <a:spcBef>
                <a:spcPct val="0"/>
              </a:spcBef>
            </a:pPr>
            <a:r>
              <a:rPr lang="en-US" sz="5821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Manageable Scope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540631"/>
            <a:ext cx="16230600" cy="1261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Clear Role Separation</a:t>
            </a:r>
            <a:r>
              <a:rPr lang="en-US" sz="35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: Each member owns one module such as TTS Engine, Overlay/Hotkey, GUI-no overlap, no confusion.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64586" y="6412230"/>
            <a:ext cx="10594714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Scoped Feature Set</a:t>
            </a:r>
            <a:r>
              <a:rPr lang="en-US" sz="36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:</a:t>
            </a:r>
            <a:r>
              <a:rPr lang="en-US" sz="36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6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English only, 250-word limit - intentional constraints that keep scope under control.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474845"/>
            <a:ext cx="13099635" cy="1261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OOP Architecture</a:t>
            </a:r>
            <a:r>
              <a:rPr lang="en-US" sz="35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: TTSEngine class encapsulates complexity. Easy to text independently before integration.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31261" y="4433902"/>
            <a:ext cx="4475759" cy="5964348"/>
          </a:xfrm>
          <a:custGeom>
            <a:avLst/>
            <a:gdLst/>
            <a:ahLst/>
            <a:cxnLst/>
            <a:rect l="l" t="t" r="r" b="b"/>
            <a:pathLst>
              <a:path w="4475759" h="5964348">
                <a:moveTo>
                  <a:pt x="0" y="0"/>
                </a:moveTo>
                <a:lnTo>
                  <a:pt x="4475759" y="0"/>
                </a:lnTo>
                <a:lnTo>
                  <a:pt x="4475759" y="5964349"/>
                </a:lnTo>
                <a:lnTo>
                  <a:pt x="0" y="5964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0" y="565064"/>
            <a:ext cx="7466843" cy="1177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  <a:spcBef>
                <a:spcPct val="0"/>
              </a:spcBef>
            </a:pPr>
            <a:r>
              <a:rPr lang="en-US" sz="6499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Realistic Timeline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925017"/>
            <a:ext cx="5448300" cy="814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dirty="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Week 1 -Research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7485" y="2883867"/>
            <a:ext cx="9663596" cy="108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Concept understanding for each member's assigned area. Low-risk phase.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7484" y="4281502"/>
            <a:ext cx="8182715" cy="814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dirty="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Week2+3 - Build &amp; implement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7485" y="5274612"/>
            <a:ext cx="12693776" cy="108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Core coding sprint .Modular design means parallel progress across all 3 members. Combine all code and connect with GUI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070" y="6672248"/>
            <a:ext cx="5114330" cy="814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dirty="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Week 4 Integrate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4070" y="7669198"/>
            <a:ext cx="10853521" cy="108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Software testing and Debugging. Code Finalization, GUI Finalization. Wrapping 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3869162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299276" y="3241312"/>
            <a:ext cx="1255699" cy="125569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1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W1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43859" y="3241312"/>
            <a:ext cx="1255699" cy="125569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1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733025" y="3241312"/>
            <a:ext cx="1255699" cy="125569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1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W4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588442" y="3241312"/>
            <a:ext cx="1255699" cy="125569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1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W3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134856" y="38181"/>
            <a:ext cx="12257544" cy="1954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sz="12000" dirty="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Timeline Overview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613011" y="4870132"/>
            <a:ext cx="3495726" cy="4576297"/>
            <a:chOff x="0" y="0"/>
            <a:chExt cx="4660968" cy="6101729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4660968" cy="6101729"/>
              <a:chOff x="0" y="0"/>
              <a:chExt cx="920685" cy="120528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920685" cy="1205280"/>
              </a:xfrm>
              <a:custGeom>
                <a:avLst/>
                <a:gdLst/>
                <a:ahLst/>
                <a:cxnLst/>
                <a:rect l="l" t="t" r="r" b="b"/>
                <a:pathLst>
                  <a:path w="920685" h="1205280">
                    <a:moveTo>
                      <a:pt x="112949" y="0"/>
                    </a:moveTo>
                    <a:lnTo>
                      <a:pt x="807736" y="0"/>
                    </a:lnTo>
                    <a:cubicBezTo>
                      <a:pt x="837692" y="0"/>
                      <a:pt x="866421" y="11900"/>
                      <a:pt x="887603" y="33082"/>
                    </a:cubicBezTo>
                    <a:cubicBezTo>
                      <a:pt x="908785" y="54264"/>
                      <a:pt x="920685" y="82993"/>
                      <a:pt x="920685" y="112949"/>
                    </a:cubicBezTo>
                    <a:lnTo>
                      <a:pt x="920685" y="1092331"/>
                    </a:lnTo>
                    <a:cubicBezTo>
                      <a:pt x="920685" y="1122287"/>
                      <a:pt x="908785" y="1151016"/>
                      <a:pt x="887603" y="1172198"/>
                    </a:cubicBezTo>
                    <a:cubicBezTo>
                      <a:pt x="866421" y="1193380"/>
                      <a:pt x="837692" y="1205280"/>
                      <a:pt x="807736" y="1205280"/>
                    </a:cubicBezTo>
                    <a:lnTo>
                      <a:pt x="112949" y="1205280"/>
                    </a:lnTo>
                    <a:cubicBezTo>
                      <a:pt x="82993" y="1205280"/>
                      <a:pt x="54264" y="1193380"/>
                      <a:pt x="33082" y="1172198"/>
                    </a:cubicBezTo>
                    <a:cubicBezTo>
                      <a:pt x="11900" y="1151016"/>
                      <a:pt x="0" y="1122287"/>
                      <a:pt x="0" y="1092331"/>
                    </a:cubicBezTo>
                    <a:lnTo>
                      <a:pt x="0" y="112949"/>
                    </a:lnTo>
                    <a:cubicBezTo>
                      <a:pt x="0" y="82993"/>
                      <a:pt x="11900" y="54264"/>
                      <a:pt x="33082" y="33082"/>
                    </a:cubicBezTo>
                    <a:cubicBezTo>
                      <a:pt x="54264" y="11900"/>
                      <a:pt x="82993" y="0"/>
                      <a:pt x="11294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85725"/>
                <a:ext cx="920685" cy="12910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604516" lvl="1" indent="-302258" algn="l">
                  <a:lnSpc>
                    <a:spcPts val="3919"/>
                  </a:lnSpc>
                  <a:buFont typeface="Arial"/>
                  <a:buChar char="•"/>
                </a:pPr>
                <a:r>
                  <a:rPr lang="en-US" sz="2799">
                    <a:solidFill>
                      <a:srgbClr val="FFFFFF"/>
                    </a:solidFill>
                    <a:latin typeface="Bryndan Write"/>
                    <a:ea typeface="Bryndan Write"/>
                    <a:cs typeface="Bryndan Write"/>
                    <a:sym typeface="Bryndan Write"/>
                  </a:rPr>
                  <a:t>Debugging and software testing</a:t>
                </a:r>
              </a:p>
              <a:p>
                <a:pPr marL="604516" lvl="1" indent="-302258" algn="l">
                  <a:lnSpc>
                    <a:spcPts val="3919"/>
                  </a:lnSpc>
                  <a:buFont typeface="Arial"/>
                  <a:buChar char="•"/>
                </a:pPr>
                <a:r>
                  <a:rPr lang="en-US" sz="2799">
                    <a:solidFill>
                      <a:srgbClr val="FFFFFF"/>
                    </a:solidFill>
                    <a:latin typeface="Bryndan Write"/>
                    <a:ea typeface="Bryndan Write"/>
                    <a:cs typeface="Bryndan Write"/>
                    <a:sym typeface="Bryndan Write"/>
                  </a:rPr>
                  <a:t>Code Finalization</a:t>
                </a:r>
              </a:p>
              <a:p>
                <a:pPr marL="604516" lvl="1" indent="-302258" algn="l">
                  <a:lnSpc>
                    <a:spcPts val="3919"/>
                  </a:lnSpc>
                  <a:buFont typeface="Arial"/>
                  <a:buChar char="•"/>
                </a:pPr>
                <a:r>
                  <a:rPr lang="en-US" sz="2799">
                    <a:solidFill>
                      <a:srgbClr val="FFFFFF"/>
                    </a:solidFill>
                    <a:latin typeface="Bryndan Write"/>
                    <a:ea typeface="Bryndan Write"/>
                    <a:cs typeface="Bryndan Write"/>
                    <a:sym typeface="Bryndan Write"/>
                  </a:rPr>
                  <a:t>GUI finalization</a:t>
                </a:r>
              </a:p>
              <a:p>
                <a:pPr marL="604516" lvl="1" indent="-302258" algn="l">
                  <a:lnSpc>
                    <a:spcPts val="3919"/>
                  </a:lnSpc>
                  <a:buFont typeface="Arial"/>
                  <a:buChar char="•"/>
                </a:pPr>
                <a:r>
                  <a:rPr lang="en-US" sz="2799">
                    <a:solidFill>
                      <a:srgbClr val="FFFFFF"/>
                    </a:solidFill>
                    <a:latin typeface="Bryndan Write"/>
                    <a:ea typeface="Bryndan Write"/>
                    <a:cs typeface="Bryndan Write"/>
                    <a:sym typeface="Bryndan Write"/>
                  </a:rPr>
                  <a:t>Slide presentation</a:t>
                </a:r>
              </a:p>
              <a:p>
                <a:pPr marL="604516" lvl="1" indent="-302258" algn="l">
                  <a:lnSpc>
                    <a:spcPts val="3919"/>
                  </a:lnSpc>
                  <a:buFont typeface="Arial"/>
                  <a:buChar char="•"/>
                </a:pPr>
                <a:r>
                  <a:rPr lang="en-US" sz="2799">
                    <a:solidFill>
                      <a:srgbClr val="FFFFFF"/>
                    </a:solidFill>
                    <a:latin typeface="Bryndan Write"/>
                    <a:ea typeface="Bryndan Write"/>
                    <a:cs typeface="Bryndan Write"/>
                    <a:sym typeface="Bryndan Write"/>
                  </a:rPr>
                  <a:t>Wrapping up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493351" y="2461235"/>
              <a:ext cx="1604804" cy="6512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68428" y="4948900"/>
            <a:ext cx="3495726" cy="4576297"/>
            <a:chOff x="0" y="0"/>
            <a:chExt cx="920685" cy="12052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20685" cy="1205280"/>
            </a:xfrm>
            <a:custGeom>
              <a:avLst/>
              <a:gdLst/>
              <a:ahLst/>
              <a:cxnLst/>
              <a:rect l="l" t="t" r="r" b="b"/>
              <a:pathLst>
                <a:path w="920685" h="1205280">
                  <a:moveTo>
                    <a:pt x="112949" y="0"/>
                  </a:moveTo>
                  <a:lnTo>
                    <a:pt x="807736" y="0"/>
                  </a:lnTo>
                  <a:cubicBezTo>
                    <a:pt x="837692" y="0"/>
                    <a:pt x="866421" y="11900"/>
                    <a:pt x="887603" y="33082"/>
                  </a:cubicBezTo>
                  <a:cubicBezTo>
                    <a:pt x="908785" y="54264"/>
                    <a:pt x="920685" y="82993"/>
                    <a:pt x="920685" y="112949"/>
                  </a:cubicBezTo>
                  <a:lnTo>
                    <a:pt x="920685" y="1092331"/>
                  </a:lnTo>
                  <a:cubicBezTo>
                    <a:pt x="920685" y="1122287"/>
                    <a:pt x="908785" y="1151016"/>
                    <a:pt x="887603" y="1172198"/>
                  </a:cubicBezTo>
                  <a:cubicBezTo>
                    <a:pt x="866421" y="1193380"/>
                    <a:pt x="837692" y="1205280"/>
                    <a:pt x="807736" y="1205280"/>
                  </a:cubicBezTo>
                  <a:lnTo>
                    <a:pt x="112949" y="1205280"/>
                  </a:lnTo>
                  <a:cubicBezTo>
                    <a:pt x="82993" y="1205280"/>
                    <a:pt x="54264" y="1193380"/>
                    <a:pt x="33082" y="1172198"/>
                  </a:cubicBezTo>
                  <a:cubicBezTo>
                    <a:pt x="11900" y="1151016"/>
                    <a:pt x="0" y="1122287"/>
                    <a:pt x="0" y="1092331"/>
                  </a:cubicBezTo>
                  <a:lnTo>
                    <a:pt x="0" y="112949"/>
                  </a:lnTo>
                  <a:cubicBezTo>
                    <a:pt x="0" y="82993"/>
                    <a:pt x="11900" y="54264"/>
                    <a:pt x="33082" y="33082"/>
                  </a:cubicBezTo>
                  <a:cubicBezTo>
                    <a:pt x="54264" y="11900"/>
                    <a:pt x="82993" y="0"/>
                    <a:pt x="112949" y="0"/>
                  </a:cubicBez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920685" cy="1291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FFFFFF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Code Integration + combination with GUI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FFFFFF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Code Implementation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23846" y="4870132"/>
            <a:ext cx="3495726" cy="4576297"/>
            <a:chOff x="0" y="0"/>
            <a:chExt cx="920685" cy="12052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20685" cy="1205280"/>
            </a:xfrm>
            <a:custGeom>
              <a:avLst/>
              <a:gdLst/>
              <a:ahLst/>
              <a:cxnLst/>
              <a:rect l="l" t="t" r="r" b="b"/>
              <a:pathLst>
                <a:path w="920685" h="1205280">
                  <a:moveTo>
                    <a:pt x="112949" y="0"/>
                  </a:moveTo>
                  <a:lnTo>
                    <a:pt x="807736" y="0"/>
                  </a:lnTo>
                  <a:cubicBezTo>
                    <a:pt x="837692" y="0"/>
                    <a:pt x="866421" y="11900"/>
                    <a:pt x="887603" y="33082"/>
                  </a:cubicBezTo>
                  <a:cubicBezTo>
                    <a:pt x="908785" y="54264"/>
                    <a:pt x="920685" y="82993"/>
                    <a:pt x="920685" y="112949"/>
                  </a:cubicBezTo>
                  <a:lnTo>
                    <a:pt x="920685" y="1092331"/>
                  </a:lnTo>
                  <a:cubicBezTo>
                    <a:pt x="920685" y="1122287"/>
                    <a:pt x="908785" y="1151016"/>
                    <a:pt x="887603" y="1172198"/>
                  </a:cubicBezTo>
                  <a:cubicBezTo>
                    <a:pt x="866421" y="1193380"/>
                    <a:pt x="837692" y="1205280"/>
                    <a:pt x="807736" y="1205280"/>
                  </a:cubicBezTo>
                  <a:lnTo>
                    <a:pt x="112949" y="1205280"/>
                  </a:lnTo>
                  <a:cubicBezTo>
                    <a:pt x="82993" y="1205280"/>
                    <a:pt x="54264" y="1193380"/>
                    <a:pt x="33082" y="1172198"/>
                  </a:cubicBezTo>
                  <a:cubicBezTo>
                    <a:pt x="11900" y="1151016"/>
                    <a:pt x="0" y="1122287"/>
                    <a:pt x="0" y="1092331"/>
                  </a:cubicBezTo>
                  <a:lnTo>
                    <a:pt x="0" y="112949"/>
                  </a:lnTo>
                  <a:cubicBezTo>
                    <a:pt x="0" y="82993"/>
                    <a:pt x="11900" y="54264"/>
                    <a:pt x="33082" y="33082"/>
                  </a:cubicBezTo>
                  <a:cubicBezTo>
                    <a:pt x="54264" y="11900"/>
                    <a:pt x="82993" y="0"/>
                    <a:pt x="112949" y="0"/>
                  </a:cubicBez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920685" cy="1291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FFFFFF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Build TTS Engine &amp; apply OOP concept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FFFFFF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Code Implementation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80419" y="4870132"/>
            <a:ext cx="3495726" cy="4576297"/>
            <a:chOff x="0" y="0"/>
            <a:chExt cx="920685" cy="12052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20685" cy="1205280"/>
            </a:xfrm>
            <a:custGeom>
              <a:avLst/>
              <a:gdLst/>
              <a:ahLst/>
              <a:cxnLst/>
              <a:rect l="l" t="t" r="r" b="b"/>
              <a:pathLst>
                <a:path w="920685" h="1205280">
                  <a:moveTo>
                    <a:pt x="112949" y="0"/>
                  </a:moveTo>
                  <a:lnTo>
                    <a:pt x="807736" y="0"/>
                  </a:lnTo>
                  <a:cubicBezTo>
                    <a:pt x="837692" y="0"/>
                    <a:pt x="866421" y="11900"/>
                    <a:pt x="887603" y="33082"/>
                  </a:cubicBezTo>
                  <a:cubicBezTo>
                    <a:pt x="908785" y="54264"/>
                    <a:pt x="920685" y="82993"/>
                    <a:pt x="920685" y="112949"/>
                  </a:cubicBezTo>
                  <a:lnTo>
                    <a:pt x="920685" y="1092331"/>
                  </a:lnTo>
                  <a:cubicBezTo>
                    <a:pt x="920685" y="1122287"/>
                    <a:pt x="908785" y="1151016"/>
                    <a:pt x="887603" y="1172198"/>
                  </a:cubicBezTo>
                  <a:cubicBezTo>
                    <a:pt x="866421" y="1193380"/>
                    <a:pt x="837692" y="1205280"/>
                    <a:pt x="807736" y="1205280"/>
                  </a:cubicBezTo>
                  <a:lnTo>
                    <a:pt x="112949" y="1205280"/>
                  </a:lnTo>
                  <a:cubicBezTo>
                    <a:pt x="82993" y="1205280"/>
                    <a:pt x="54264" y="1193380"/>
                    <a:pt x="33082" y="1172198"/>
                  </a:cubicBezTo>
                  <a:cubicBezTo>
                    <a:pt x="11900" y="1151016"/>
                    <a:pt x="0" y="1122287"/>
                    <a:pt x="0" y="1092331"/>
                  </a:cubicBezTo>
                  <a:lnTo>
                    <a:pt x="0" y="112949"/>
                  </a:lnTo>
                  <a:cubicBezTo>
                    <a:pt x="0" y="82993"/>
                    <a:pt x="11900" y="54264"/>
                    <a:pt x="33082" y="33082"/>
                  </a:cubicBezTo>
                  <a:cubicBezTo>
                    <a:pt x="54264" y="11900"/>
                    <a:pt x="82993" y="0"/>
                    <a:pt x="112949" y="0"/>
                  </a:cubicBez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76200"/>
              <a:ext cx="920685" cy="12814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18162" lvl="1" indent="-259081" algn="l">
                <a:lnSpc>
                  <a:spcPts val="3360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Research TTS &amp; pyttsx3</a:t>
              </a:r>
            </a:p>
            <a:p>
              <a:pPr marL="518162" lvl="1" indent="-259081" algn="l">
                <a:lnSpc>
                  <a:spcPts val="3360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Explore overlay workflow</a:t>
              </a:r>
            </a:p>
            <a:p>
              <a:pPr marL="518162" lvl="1" indent="-259081" algn="l">
                <a:lnSpc>
                  <a:spcPts val="3360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Design Figma UI mockup</a:t>
              </a:r>
            </a:p>
            <a:p>
              <a:pPr marL="518162" lvl="1" indent="-259081" algn="l">
                <a:lnSpc>
                  <a:spcPts val="3360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Explore PyQt6 basics</a:t>
              </a:r>
            </a:p>
            <a:p>
              <a:pPr algn="l">
                <a:lnSpc>
                  <a:spcPts val="2800"/>
                </a:lnSpc>
              </a:pPr>
              <a:endParaRPr lang="en-US" sz="2400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63136" y="3562227"/>
            <a:ext cx="6469380" cy="218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398</Words>
  <Application>Microsoft Office PowerPoint</Application>
  <PresentationFormat>Custom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Public Sans Bold</vt:lpstr>
      <vt:lpstr>Bryndan Write</vt:lpstr>
      <vt:lpstr>Arial</vt:lpstr>
      <vt:lpstr>Calibri</vt:lpstr>
      <vt:lpstr>Open Sauce</vt:lpstr>
      <vt:lpstr>Canva Sans</vt:lpstr>
      <vt:lpstr>Public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Project</dc:title>
  <cp:lastModifiedBy>HONG Limhak</cp:lastModifiedBy>
  <cp:revision>2</cp:revision>
  <dcterms:created xsi:type="dcterms:W3CDTF">2006-08-16T00:00:00Z</dcterms:created>
  <dcterms:modified xsi:type="dcterms:W3CDTF">2026-02-28T09:38:46Z</dcterms:modified>
  <dc:identifier>DAHCh81U4mE</dc:identifier>
</cp:coreProperties>
</file>